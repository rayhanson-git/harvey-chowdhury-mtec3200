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bb0885080a4185" /><Relationship Type="http://schemas.openxmlformats.org/officeDocument/2006/relationships/extended-properties" Target="/docProps/app.xml" Id="Rb8d6ce07b3384815" /><Relationship Type="http://schemas.openxmlformats.org/officeDocument/2006/relationships/officeDocument" Target="/ppt/presentation.xml" Id="Rdd4c10ac2c144e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18fecab01f4e88"/>
  </p:sldMasterIdLst>
  <p:notesMasterIdLst>
    <p:notesMasterId xmlns:r="http://schemas.openxmlformats.org/officeDocument/2006/relationships" r:id="R7c928bb97e8c4f77"/>
  </p:notesMasterIdLst>
  <p:sldIdLst>
    <p:sldId xmlns:r="http://schemas.openxmlformats.org/officeDocument/2006/relationships" id="256" r:id="R4fc3406760264449"/>
    <p:sldId xmlns:r="http://schemas.openxmlformats.org/officeDocument/2006/relationships" id="257" r:id="R47adcdd25b334a85"/>
    <p:sldId xmlns:r="http://schemas.openxmlformats.org/officeDocument/2006/relationships" id="258" r:id="R9f288a80ad474a97"/>
    <p:sldId xmlns:r="http://schemas.openxmlformats.org/officeDocument/2006/relationships" id="259" r:id="R5a6b1eaa7e694ba7"/>
    <p:sldId xmlns:r="http://schemas.openxmlformats.org/officeDocument/2006/relationships" id="260" r:id="R9c3c42793e9346e6"/>
    <p:sldId xmlns:r="http://schemas.openxmlformats.org/officeDocument/2006/relationships" id="261" r:id="Redaf945c27c14649"/>
    <p:sldId xmlns:r="http://schemas.openxmlformats.org/officeDocument/2006/relationships" id="262" r:id="R40ad381d22334517"/>
    <p:sldId xmlns:r="http://schemas.openxmlformats.org/officeDocument/2006/relationships" id="263" r:id="R5ab3782200ba4637"/>
    <p:sldId xmlns:r="http://schemas.openxmlformats.org/officeDocument/2006/relationships" id="264" r:id="Ree2a27c1ca074738"/>
    <p:sldId xmlns:r="http://schemas.openxmlformats.org/officeDocument/2006/relationships" id="265" r:id="Ra59a5887d9ab44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3f800075b14ae3" /><Relationship Type="http://schemas.openxmlformats.org/officeDocument/2006/relationships/slideMaster" Target="/ppt/slideMasters/slideMaster1.xml" Id="Rbb18fecab01f4e88" /><Relationship Type="http://schemas.openxmlformats.org/officeDocument/2006/relationships/notesMaster" Target="/ppt/notesMasters/notesMaster1.xml" Id="R7c928bb97e8c4f77" /><Relationship Type="http://schemas.openxmlformats.org/officeDocument/2006/relationships/presProps" Target="/ppt/presProps.xml" Id="Rb6bcb180fdc74de1" /><Relationship Type="http://schemas.openxmlformats.org/officeDocument/2006/relationships/tableStyles" Target="/ppt/tableStyles.xml" Id="Rb3c23412c6e044fa" /><Relationship Type="http://schemas.openxmlformats.org/officeDocument/2006/relationships/slide" Target="/ppt/slides/slide1.xml" Id="R4fc3406760264449" /><Relationship Type="http://schemas.openxmlformats.org/officeDocument/2006/relationships/slide" Target="/ppt/slides/slide2.xml" Id="R47adcdd25b334a85" /><Relationship Type="http://schemas.openxmlformats.org/officeDocument/2006/relationships/slide" Target="/ppt/slides/slide3.xml" Id="R9f288a80ad474a97" /><Relationship Type="http://schemas.openxmlformats.org/officeDocument/2006/relationships/slide" Target="/ppt/slides/slide4.xml" Id="R5a6b1eaa7e694ba7" /><Relationship Type="http://schemas.openxmlformats.org/officeDocument/2006/relationships/slide" Target="/ppt/slides/slide5.xml" Id="R9c3c42793e9346e6" /><Relationship Type="http://schemas.openxmlformats.org/officeDocument/2006/relationships/slide" Target="/ppt/slides/slide6.xml" Id="Redaf945c27c14649" /><Relationship Type="http://schemas.openxmlformats.org/officeDocument/2006/relationships/slide" Target="/ppt/slides/slide7.xml" Id="R40ad381d22334517" /><Relationship Type="http://schemas.openxmlformats.org/officeDocument/2006/relationships/slide" Target="/ppt/slides/slide8.xml" Id="R5ab3782200ba4637" /><Relationship Type="http://schemas.openxmlformats.org/officeDocument/2006/relationships/slide" Target="/ppt/slides/slide9.xml" Id="Ree2a27c1ca074738" /><Relationship Type="http://schemas.openxmlformats.org/officeDocument/2006/relationships/slide" Target="/ppt/slides/slide10.xml" Id="Ra59a5887d9ab44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07391c8c714f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aed4f5c3648e0" /><Relationship Type="http://schemas.openxmlformats.org/officeDocument/2006/relationships/notesMaster" Target="/ppt/notesMasters/notesMaster1.xml" Id="R050a35ec2c4849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b9fba6e984401d" /><Relationship Type="http://schemas.openxmlformats.org/officeDocument/2006/relationships/notesMaster" Target="/ppt/notesMasters/notesMaster1.xml" Id="R7628683bdbd6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fa4efc58f24e4d" /><Relationship Type="http://schemas.openxmlformats.org/officeDocument/2006/relationships/notesMaster" Target="/ppt/notesMasters/notesMaster1.xml" Id="R92d205488bc648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d891a84fa54465" /><Relationship Type="http://schemas.openxmlformats.org/officeDocument/2006/relationships/notesMaster" Target="/ppt/notesMasters/notesMaster1.xml" Id="R11bc5526a64b4f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988a1c60874f7d" /><Relationship Type="http://schemas.openxmlformats.org/officeDocument/2006/relationships/notesMaster" Target="/ppt/notesMasters/notesMaster1.xml" Id="Re1b3343feb864c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cdb8f53869485a" /><Relationship Type="http://schemas.openxmlformats.org/officeDocument/2006/relationships/notesMaster" Target="/ppt/notesMasters/notesMaster1.xml" Id="R6202d197dccf46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ce4bc428a94d75" /><Relationship Type="http://schemas.openxmlformats.org/officeDocument/2006/relationships/notesMaster" Target="/ppt/notesMasters/notesMaster1.xml" Id="Rb22fd075860b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5ed8da667e41d6" /><Relationship Type="http://schemas.openxmlformats.org/officeDocument/2006/relationships/notesMaster" Target="/ppt/notesMasters/notesMaster1.xml" Id="R0df029a243d849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1776350a7943ac" /><Relationship Type="http://schemas.openxmlformats.org/officeDocument/2006/relationships/notesMaster" Target="/ppt/notesMasters/notesMaster1.xml" Id="R0779e3434fe5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7394fa608e4236" /><Relationship Type="http://schemas.openxmlformats.org/officeDocument/2006/relationships/notesMaster" Target="/ppt/notesMasters/notesMaster1.xml" Id="R8d2a91f8b4f243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problem and the working prototype. Harvey Chowdhury, MTEC 3200 Project 1. Live app: https://leaveby.rayhanson.tech. Sources: https://github.com/Rayhanson-Git/Harvey-Chowdhury-MTEC3200/blob/main/PRD.md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starting routine comes from the What / How / Why exercise. Explain how a short fixed window connects the workout, getting ready and commute. Source: https://github.com/Rayhanson-Git/Harvey-Chowdhury-MTEC3200/blob/main/research/what_how_why.md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https://github.com/Rayhanson-Git/Harvey-Chowdhury-MTEC3200/blob/main/interviews/Chris_2026-09-19.md ; https://github.com/Rayhanson-Git/Harvey-Chowdhury-MTEC3200/blob/main/interviews/David_2026-09-19.md ; https://github.com/Rayhanson-Git/Harvey-Chowdhury-MTEC3200/blob/main/interviews/Selina_2026-09-19.md . Records are dated September 19, 2026. They are self-reported accounts. Preserve David as a contrasting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https://github.com/Rayhanson-Git/Harvey-Chowdhury-MTEC3200/blob/main/research/affinity_map.md ; https://github.com/Rayhanson-Git/Harvey-Chowdhury-MTEC3200/blob/main/research/insight_statements.md . The separate artifacts were organized retrospectively on October 20. Three interviews do not establish how common these patterns are or prove the app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persona is a behavioral composite, not a fourth participant. Sources: https://github.com/Rayhanson-Git/Harvey-Chowdhury-MTEC3200/blob/main/research/persona.md ; https://github.com/Rayhanson-Git/Harvey-Chowdhury-MTEC3200/blob/main/research/point_of_view.md . Avoid fictional demographic details. The editable plan is a design response whose usability still needs peer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https://github.com/Rayhanson-Git/Harvey-Chowdhury-MTEC3200/blob/main/Design/LeaveBy_Wireframes.png ; https://www.figma.com/design/o5HfqhQTqwBFK8nFTEWvx2 . The original October 6 wireframe date is an example. Calculate enters results. Edit preserves inputs. Recalculate returns to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live app rather than implying this image is a usability study. Screenshot from the deployed app with a future January 2, 2030 example. Source: https://leaveby.rayhanson.tech and https://github.com/Rayhanson-Git/Harvey-Chowdhury-MTEC3200/blob/main/Presentation/media/result.jpg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https://github.com/Rayhanson-Git/Harvey-Chowdhury-MTEC3200/blob/main/lib/plan-input.ts . Every duration is multiplied by 60,000 to convert minutes to milliseconds. Use full timestamps so midnight can cross the date boundary. Source: https://github.com/Rayhanson-Git/Harvey-Chowdhury-MTEC3200/blob/main/Presentation/code-defense.md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https://github.com/Rayhanson-Git/Harvey-Chowdhury-MTEC3200/blob/main/tests/plan.test.mjs ; https://github.com/Rayhanson-Git/Harvey-Chowdhury-MTEC3200/blob/main/docs/verification.md . Eight Node acceptance tests, lint and production build passed. Hosted interaction checks include reference, edit, invalid inputs, midnight, zeros, past stop and reload. Phone-width/dark-mode visual testing is not established by these desktop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https://github.com/Rayhanson-Git/Harvey-Chowdhury-MTEC3200/blob/main/PRD.md ; https://github.com/Rayhanson-Git/Harvey-Chowdhury-MTEC3200/blob/main/docs/reflection.md ; https://github.com/Rayhanson-Git/Harvey-Chowdhury-MTEC3200/blob/main/docs/peer-feedback.md . Session memory resets on refresh. Calculations rely on estimates. No live transit, alarms or saved routines. Actual peer feedback and live defense remain human activities.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96a242e0e44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e95b79a224b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6a2ebdb8d4c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040e8e2ad46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43834acc84a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84f8e6d0f4c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966877-F98E-4200-AB74-2675ED0BE7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817C75-CF9B-46D5-9AA4-A515D926DE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91660E-7C07-4E15-9609-AFB4545F3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3FABF-C116-455A-A763-18A3F327C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4FA959-2F77-411D-860E-D651B6C222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B8192C-CCA2-452D-A127-309DA33715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3C9D59-11FE-401A-BD31-72545F4A7F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C58B38-6D4A-42B7-9750-408C6C33DB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F000F9-659C-4660-B5FE-83FAD0AB1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2918F1-6B46-4237-8091-33D744ECE4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a9dd2f98c6431d" /><Relationship Type="http://schemas.openxmlformats.org/officeDocument/2006/relationships/slideLayout" Target="/ppt/slideLayouts/slideLayout1.xml" Id="Rdacb346f6dc84a5d" /><Relationship Type="http://schemas.openxmlformats.org/officeDocument/2006/relationships/slideLayout" Target="/ppt/slideLayouts/slideLayout2.xml" Id="Rafdabbe4b2f84128" /><Relationship Type="http://schemas.openxmlformats.org/officeDocument/2006/relationships/slideLayout" Target="/ppt/slideLayouts/slideLayout3.xml" Id="R9071dbff24ee4760" /><Relationship Type="http://schemas.openxmlformats.org/officeDocument/2006/relationships/slideLayout" Target="/ppt/slideLayouts/slideLayout4.xml" Id="Re584d8c91dd14fa8" /><Relationship Type="http://schemas.openxmlformats.org/officeDocument/2006/relationships/slideLayout" Target="/ppt/slideLayouts/slideLayout5.xml" Id="R94595a5dbdbf4252" /><Relationship Type="http://schemas.openxmlformats.org/officeDocument/2006/relationships/slideLayout" Target="/ppt/slideLayouts/slideLayout6.xml" Id="R89ae02c816ac4d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b346f6dc84a5d"/>
    <p:sldLayoutId xmlns:r="http://schemas.openxmlformats.org/officeDocument/2006/relationships" id="2147483650" r:id="Rafdabbe4b2f84128"/>
    <p:sldLayoutId xmlns:r="http://schemas.openxmlformats.org/officeDocument/2006/relationships" id="2147483651" r:id="R9071dbff24ee4760"/>
    <p:sldLayoutId xmlns:r="http://schemas.openxmlformats.org/officeDocument/2006/relationships" id="2147483652" r:id="Re584d8c91dd14fa8"/>
    <p:sldLayoutId xmlns:r="http://schemas.openxmlformats.org/officeDocument/2006/relationships" id="2147483653" r:id="R94595a5dbdbf4252"/>
    <p:sldLayoutId xmlns:r="http://schemas.openxmlformats.org/officeDocument/2006/relationships" id="2147483654" r:id="R89ae02c816ac4d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1df1e80094726" /><Relationship Type="http://schemas.openxmlformats.org/officeDocument/2006/relationships/notesSlide" Target="/ppt/notesSlides/notesSlide1.xml" Id="Rd74a11cc268f41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654c4fab34268" /><Relationship Type="http://schemas.openxmlformats.org/officeDocument/2006/relationships/notesSlide" Target="/ppt/notesSlides/notesSlide2.xml" Id="R581481683aa544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d8edf67096465e" /><Relationship Type="http://schemas.openxmlformats.org/officeDocument/2006/relationships/notesSlide" Target="/ppt/notesSlides/notesSlide3.xml" Id="Rbc1d81af7ee047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66144210a42de" /><Relationship Type="http://schemas.openxmlformats.org/officeDocument/2006/relationships/notesSlide" Target="/ppt/notesSlides/notesSlide4.xml" Id="Ra5713095daa146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032b533544ee6" /><Relationship Type="http://schemas.openxmlformats.org/officeDocument/2006/relationships/notesSlide" Target="/ppt/notesSlides/notesSlide5.xml" Id="Rb0d48e709a964d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3e2885c1c4a4f" /><Relationship Type="http://schemas.openxmlformats.org/officeDocument/2006/relationships/image" Target="/ppt/media/image.png" Id="Rdffa55a47d214c0a" /><Relationship Type="http://schemas.openxmlformats.org/officeDocument/2006/relationships/notesSlide" Target="/ppt/notesSlides/notesSlide6.xml" Id="Rcfcff439def54f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87bb885b84f0f" /><Relationship Type="http://schemas.openxmlformats.org/officeDocument/2006/relationships/image" Target="/ppt/media/image.jpeg" Id="Rc0b1abfb51a44393" /><Relationship Type="http://schemas.openxmlformats.org/officeDocument/2006/relationships/notesSlide" Target="/ppt/notesSlides/notesSlide7.xml" Id="Rda768a70a8eb41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6429470be418b" /><Relationship Type="http://schemas.openxmlformats.org/officeDocument/2006/relationships/notesSlide" Target="/ppt/notesSlides/notesSlide8.xml" Id="Rcc2125bb16ee43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bd1fdc2de44ce" /><Relationship Type="http://schemas.openxmlformats.org/officeDocument/2006/relationships/notesSlide" Target="/ppt/notesSlides/notesSlide9.xml" Id="R31761ac5b018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ef1c23f67245fc" /><Relationship Type="http://schemas.openxmlformats.org/officeDocument/2006/relationships/notesSlide" Target="/ppt/notesSlides/notesSlide10.xml" Id="Re059b779ada644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aveBy">
            <a:extLst xmlns:a="http://schemas.openxmlformats.org/drawingml/2006/main">
              <a:ext uri="{FF2B5EF4-FFF2-40B4-BE49-F238E27FC236}">
                <a16:creationId xmlns:a16="http://schemas.microsoft.com/office/drawing/2014/main" id="{76BCCBFF-27C0-4799-B92D-80005906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LeaveBy</a:t>
            </a:r>
          </a:p>
        </p:txBody>
      </p:sp>
      <p:sp>
        <p:nvSpPr>
          <p:cNvPr id="2" name="A transition planner for workouts before c">
            <a:extLst xmlns:a="http://schemas.openxmlformats.org/drawingml/2006/main">
              <a:ext uri="{FF2B5EF4-FFF2-40B4-BE49-F238E27FC236}">
                <a16:creationId xmlns:a16="http://schemas.microsoft.com/office/drawing/2014/main" id="{EF081B11-C707-4700-86CB-D2F3119E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952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A transition planner for workouts before class or work</a:t>
            </a:r>
          </a:p>
        </p:txBody>
      </p:sp>
      <p:sp>
        <p:nvSpPr>
          <p:cNvPr id="3" name="Harvey Chowdhury">
            <a:extLst xmlns:a="http://schemas.openxmlformats.org/drawingml/2006/main">
              <a:ext uri="{FF2B5EF4-FFF2-40B4-BE49-F238E27FC236}">
                <a16:creationId xmlns:a16="http://schemas.microsoft.com/office/drawing/2014/main" id="{8BBDA5A6-8157-40D3-A864-FB6E3E68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Harvey Chowdhury</a:t>
            </a:r>
          </a:p>
        </p:txBody>
      </p:sp>
      <p:sp>
        <p:nvSpPr>
          <p:cNvPr id="4" name="MTEC 3200 / Project 1">
            <a:extLst xmlns:a="http://schemas.openxmlformats.org/drawingml/2006/main">
              <a:ext uri="{FF2B5EF4-FFF2-40B4-BE49-F238E27FC236}">
                <a16:creationId xmlns:a16="http://schemas.microsoft.com/office/drawing/2014/main" id="{D0C61AC1-EDCE-4ECD-8C37-0D2B3EE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MTEC 3200 / Project 1</a:t>
            </a:r>
          </a:p>
        </p:txBody>
      </p:sp>
    </p:spTree>
    <p:extLst>
      <p:ext uri="{BB962C8B-B14F-4D97-AF65-F5344CB8AC3E}">
        <p14:creationId xmlns:p14="http://schemas.microsoft.com/office/powerpoint/2010/main" val="1220553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gym-to-class transition">
            <a:extLst xmlns:a="http://schemas.openxmlformats.org/drawingml/2006/main">
              <a:ext uri="{FF2B5EF4-FFF2-40B4-BE49-F238E27FC236}">
                <a16:creationId xmlns:a16="http://schemas.microsoft.com/office/drawing/2014/main" id="{24E5C1F4-7D0A-4886-90CF-8B13F500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The gym-to-class transition</a:t>
            </a:r>
          </a:p>
        </p:txBody>
      </p:sp>
      <p:sp>
        <p:nvSpPr>
          <p:cNvPr id="2" name="The workout ends around 8:30 AM. Class beg">
            <a:extLst xmlns:a="http://schemas.openxmlformats.org/drawingml/2006/main">
              <a:ext uri="{FF2B5EF4-FFF2-40B4-BE49-F238E27FC236}">
                <a16:creationId xmlns:a16="http://schemas.microsoft.com/office/drawing/2014/main" id="{10F5B827-AFFE-4DD0-8EBD-9642458F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The workout ends around 8:30 AM. Class begins at 10:00 AM.</a:t>
            </a:r>
          </a:p>
        </p:txBody>
      </p:sp>
      <p:sp>
        <p:nvSpPr>
          <p:cNvPr id="3" name="Required time">
            <a:extLst xmlns:a="http://schemas.openxmlformats.org/drawingml/2006/main">
              <a:ext uri="{FF2B5EF4-FFF2-40B4-BE49-F238E27FC236}">
                <a16:creationId xmlns:a16="http://schemas.microsoft.com/office/drawing/2014/main" id="{8D6937CC-D653-40CC-A45A-0554F328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Required time</a:t>
            </a:r>
          </a:p>
        </p:txBody>
      </p:sp>
      <p:sp>
        <p:nvSpPr>
          <p:cNvPr id="4" name="Showering, changing and travel still need ">
            <a:extLst xmlns:a="http://schemas.openxmlformats.org/drawingml/2006/main">
              <a:ext uri="{FF2B5EF4-FFF2-40B4-BE49-F238E27FC236}">
                <a16:creationId xmlns:a16="http://schemas.microsoft.com/office/drawing/2014/main" id="{094CF096-97D7-4BE7-B1C9-F273032A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Showering, changing and travel still need to fit.</a:t>
            </a:r>
          </a:p>
        </p:txBody>
      </p:sp>
      <p:sp>
        <p:nvSpPr>
          <p:cNvPr id="5" name="Uncertainty">
            <a:extLst xmlns:a="http://schemas.openxmlformats.org/drawingml/2006/main">
              <a:ext uri="{FF2B5EF4-FFF2-40B4-BE49-F238E27FC236}">
                <a16:creationId xmlns:a16="http://schemas.microsoft.com/office/drawing/2014/main" id="{C3060C49-958E-4A69-BD87-5B59B6A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Uncertainty</a:t>
            </a:r>
          </a:p>
        </p:txBody>
      </p:sp>
      <p:sp>
        <p:nvSpPr>
          <p:cNvPr id="6" name="Equipment waits, locker rooms and transit ">
            <a:extLst xmlns:a="http://schemas.openxmlformats.org/drawingml/2006/main">
              <a:ext uri="{FF2B5EF4-FFF2-40B4-BE49-F238E27FC236}">
                <a16:creationId xmlns:a16="http://schemas.microsoft.com/office/drawing/2014/main" id="{1B7E8259-1361-4724-B288-2456DAB3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Equipment waits, locker rooms and transit can consume the buffer.</a:t>
            </a:r>
          </a:p>
        </p:txBody>
      </p:sp>
      <p:sp>
        <p:nvSpPr>
          <p:cNvPr id="7" name="Focus: one recurring transition">
            <a:extLst xmlns:a="http://schemas.openxmlformats.org/drawingml/2006/main">
              <a:ext uri="{FF2B5EF4-FFF2-40B4-BE49-F238E27FC236}">
                <a16:creationId xmlns:a16="http://schemas.microsoft.com/office/drawing/2014/main" id="{4BCB7A58-06BF-4AEB-AA27-73A307B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Focus: one recurring transition</a:t>
            </a:r>
          </a:p>
        </p:txBody>
      </p:sp>
    </p:spTree>
    <p:extLst>
      <p:ext uri="{BB962C8B-B14F-4D97-AF65-F5344CB8AC3E}">
        <p14:creationId xmlns:p14="http://schemas.microsoft.com/office/powerpoint/2010/main" val="510165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ree interview perspectives">
            <a:extLst xmlns:a="http://schemas.openxmlformats.org/drawingml/2006/main">
              <a:ext uri="{FF2B5EF4-FFF2-40B4-BE49-F238E27FC236}">
                <a16:creationId xmlns:a16="http://schemas.microsoft.com/office/drawing/2014/main" id="{11498327-3120-4B66-B663-2EB88DB0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Three interview perspectives</a:t>
            </a:r>
          </a:p>
        </p:txBody>
      </p:sp>
      <p:sp>
        <p:nvSpPr>
          <p:cNvPr id="2" name="Chris">
            <a:extLst xmlns:a="http://schemas.openxmlformats.org/drawingml/2006/main">
              <a:ext uri="{FF2B5EF4-FFF2-40B4-BE49-F238E27FC236}">
                <a16:creationId xmlns:a16="http://schemas.microsoft.com/office/drawing/2014/main" id="{73266694-53E3-428C-9F9D-0B26916E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Chris</a:t>
            </a:r>
          </a:p>
        </p:txBody>
      </p:sp>
      <p:sp>
        <p:nvSpPr>
          <p:cNvPr id="3" name="Longer train commute. Equipment and transi">
            <a:extLst xmlns:a="http://schemas.openxmlformats.org/drawingml/2006/main">
              <a:ext uri="{FF2B5EF4-FFF2-40B4-BE49-F238E27FC236}">
                <a16:creationId xmlns:a16="http://schemas.microsoft.com/office/drawing/2014/main" id="{525B6B02-3D01-45B3-B8FC-80EA6D5C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Longer train commute. Equipment and transit delays can stack.</a:t>
            </a:r>
          </a:p>
        </p:txBody>
      </p:sp>
      <p:sp>
        <p:nvSpPr>
          <p:cNvPr id="4" name="David">
            <a:extLst xmlns:a="http://schemas.openxmlformats.org/drawingml/2006/main">
              <a:ext uri="{FF2B5EF4-FFF2-40B4-BE49-F238E27FC236}">
                <a16:creationId xmlns:a16="http://schemas.microsoft.com/office/drawing/2014/main" id="{038852BB-2E51-4F4A-8AF1-0B39F204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David</a:t>
            </a:r>
          </a:p>
        </p:txBody>
      </p:sp>
      <p:sp>
        <p:nvSpPr>
          <p:cNvPr id="5" name="Short, predictable walk. Usually has more ">
            <a:extLst xmlns:a="http://schemas.openxmlformats.org/drawingml/2006/main">
              <a:ext uri="{FF2B5EF4-FFF2-40B4-BE49-F238E27FC236}">
                <a16:creationId xmlns:a16="http://schemas.microsoft.com/office/drawing/2014/main" id="{F710114A-2FB0-40A6-8530-8580548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Short, predictable walk. Usually has more buffer and feels less rushed.</a:t>
            </a:r>
          </a:p>
        </p:txBody>
      </p:sp>
      <p:sp>
        <p:nvSpPr>
          <p:cNvPr id="6" name="Selina">
            <a:extLst xmlns:a="http://schemas.openxmlformats.org/drawingml/2006/main">
              <a:ext uri="{FF2B5EF4-FFF2-40B4-BE49-F238E27FC236}">
                <a16:creationId xmlns:a16="http://schemas.microsoft.com/office/drawing/2014/main" id="{BFC92479-574F-416C-B602-BC856DE6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Selina</a:t>
            </a:r>
          </a:p>
        </p:txBody>
      </p:sp>
      <p:sp>
        <p:nvSpPr>
          <p:cNvPr id="7" name="Preparation time varies. A fixed work star">
            <a:extLst xmlns:a="http://schemas.openxmlformats.org/drawingml/2006/main">
              <a:ext uri="{FF2B5EF4-FFF2-40B4-BE49-F238E27FC236}">
                <a16:creationId xmlns:a16="http://schemas.microsoft.com/office/drawing/2014/main" id="{202C52A5-FC38-4078-AE46-499812B6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Preparation time varies. A fixed work start creates clock watching.</a:t>
            </a:r>
          </a:p>
        </p:txBody>
      </p:sp>
    </p:spTree>
    <p:extLst>
      <p:ext uri="{BB962C8B-B14F-4D97-AF65-F5344CB8AC3E}">
        <p14:creationId xmlns:p14="http://schemas.microsoft.com/office/powerpoint/2010/main" val="1428320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hat the research suggests">
            <a:extLst xmlns:a="http://schemas.openxmlformats.org/drawingml/2006/main">
              <a:ext uri="{FF2B5EF4-FFF2-40B4-BE49-F238E27FC236}">
                <a16:creationId xmlns:a16="http://schemas.microsoft.com/office/drawing/2014/main" id="{09DCC796-B2D3-4263-8DCA-A4A7302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What the research suggests</a:t>
            </a:r>
          </a:p>
        </p:txBody>
      </p:sp>
      <p:sp>
        <p:nvSpPr>
          <p:cNvPr id="2" name="Transition time">
            <a:extLst xmlns:a="http://schemas.openxmlformats.org/drawingml/2006/main">
              <a:ext uri="{FF2B5EF4-FFF2-40B4-BE49-F238E27FC236}">
                <a16:creationId xmlns:a16="http://schemas.microsoft.com/office/drawing/2014/main" id="{E27824D4-24B1-40BF-AD96-646FE468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Transition time</a:t>
            </a:r>
          </a:p>
        </p:txBody>
      </p:sp>
      <p:sp>
        <p:nvSpPr>
          <p:cNvPr id="3" name="Preparation and travel need explicit space">
            <a:extLst xmlns:a="http://schemas.openxmlformats.org/drawingml/2006/main">
              <a:ext uri="{FF2B5EF4-FFF2-40B4-BE49-F238E27FC236}">
                <a16:creationId xmlns:a16="http://schemas.microsoft.com/office/drawing/2014/main" id="{DB2F56CA-D49A-402D-9413-9548F65F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Preparation and travel need explicit space before the commitment.</a:t>
            </a:r>
          </a:p>
        </p:txBody>
      </p:sp>
      <p:sp>
        <p:nvSpPr>
          <p:cNvPr id="4" name="Different routines">
            <a:extLst xmlns:a="http://schemas.openxmlformats.org/drawingml/2006/main">
              <a:ext uri="{FF2B5EF4-FFF2-40B4-BE49-F238E27FC236}">
                <a16:creationId xmlns:a16="http://schemas.microsoft.com/office/drawing/2014/main" id="{F0753AF1-BF62-46E7-B1D9-AA627B3B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Different routines</a:t>
            </a:r>
          </a:p>
        </p:txBody>
      </p:sp>
      <p:sp>
        <p:nvSpPr>
          <p:cNvPr id="5" name="Commute reliability and buffer change the ">
            <a:extLst xmlns:a="http://schemas.openxmlformats.org/drawingml/2006/main">
              <a:ext uri="{FF2B5EF4-FFF2-40B4-BE49-F238E27FC236}">
                <a16:creationId xmlns:a16="http://schemas.microsoft.com/office/drawing/2014/main" id="{FF8DC041-0748-4EDB-90FB-56F0E9C5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Commute reliability and buffer change the pressure.</a:t>
            </a:r>
          </a:p>
        </p:txBody>
      </p:sp>
      <p:sp>
        <p:nvSpPr>
          <p:cNvPr id="6" name="Existing boundaries">
            <a:extLst xmlns:a="http://schemas.openxmlformats.org/drawingml/2006/main">
              <a:ext uri="{FF2B5EF4-FFF2-40B4-BE49-F238E27FC236}">
                <a16:creationId xmlns:a16="http://schemas.microsoft.com/office/drawing/2014/main" id="{9A00AB29-CE95-4C3F-82E6-A1B2C1E3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Existing boundaries</a:t>
            </a:r>
          </a:p>
        </p:txBody>
      </p:sp>
      <p:sp>
        <p:nvSpPr>
          <p:cNvPr id="7" name="Hard stops and warning alarms already help">
            <a:extLst xmlns:a="http://schemas.openxmlformats.org/drawingml/2006/main">
              <a:ext uri="{FF2B5EF4-FFF2-40B4-BE49-F238E27FC236}">
                <a16:creationId xmlns:a16="http://schemas.microsoft.com/office/drawing/2014/main" id="{1B4F62EE-4333-49C4-908C-2370D96F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Hard stops and warning alarms already help participants decide when to stop.</a:t>
            </a:r>
          </a:p>
        </p:txBody>
      </p:sp>
    </p:spTree>
    <p:extLst>
      <p:ext uri="{BB962C8B-B14F-4D97-AF65-F5344CB8AC3E}">
        <p14:creationId xmlns:p14="http://schemas.microsoft.com/office/powerpoint/2010/main" val="731064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ser and point of view">
            <a:extLst xmlns:a="http://schemas.openxmlformats.org/drawingml/2006/main">
              <a:ext uri="{FF2B5EF4-FFF2-40B4-BE49-F238E27FC236}">
                <a16:creationId xmlns:a16="http://schemas.microsoft.com/office/drawing/2014/main" id="{4A47C2B8-611E-41DD-9EBA-00A4A360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User and point of view</a:t>
            </a:r>
          </a:p>
        </p:txBody>
      </p:sp>
      <p:sp>
        <p:nvSpPr>
          <p:cNvPr id="2" name="A student or working commuter exercises be">
            <a:extLst xmlns:a="http://schemas.openxmlformats.org/drawingml/2006/main">
              <a:ext uri="{FF2B5EF4-FFF2-40B4-BE49-F238E27FC236}">
                <a16:creationId xmlns:a16="http://schemas.microsoft.com/office/drawing/2014/main" id="{22C30BFC-828D-4817-8FA5-FFC4E7DD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A student or working commuter exercises before a fixed commitment.</a:t>
            </a:r>
          </a:p>
        </p:txBody>
      </p:sp>
      <p:sp>
        <p:nvSpPr>
          <p:cNvPr id="3" name="Need">
            <a:extLst xmlns:a="http://schemas.openxmlformats.org/drawingml/2006/main">
              <a:ext uri="{FF2B5EF4-FFF2-40B4-BE49-F238E27FC236}">
                <a16:creationId xmlns:a16="http://schemas.microsoft.com/office/drawing/2014/main" id="{CEB50E7D-CEEE-4AED-AF61-06AE3DD4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Need</a:t>
            </a:r>
          </a:p>
        </p:txBody>
      </p:sp>
      <p:sp>
        <p:nvSpPr>
          <p:cNvPr id="4" name="A clear boundary between workout time and ">
            <a:extLst xmlns:a="http://schemas.openxmlformats.org/drawingml/2006/main">
              <a:ext uri="{FF2B5EF4-FFF2-40B4-BE49-F238E27FC236}">
                <a16:creationId xmlns:a16="http://schemas.microsoft.com/office/drawing/2014/main" id="{D39A7351-0DEB-4369-9C19-EABC21E2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A clear boundary between workout time and transition time</a:t>
            </a:r>
          </a:p>
        </p:txBody>
      </p:sp>
      <p:sp>
        <p:nvSpPr>
          <p:cNvPr id="5" name="Unexpected waits can consume a small buffe">
            <a:extLst xmlns:a="http://schemas.openxmlformats.org/drawingml/2006/main">
              <a:ext uri="{FF2B5EF4-FFF2-40B4-BE49-F238E27FC236}">
                <a16:creationId xmlns:a16="http://schemas.microsoft.com/office/drawing/2014/main" id="{8DA35E2C-1C1E-48BF-8060-06E727EE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Unexpected waits can consume a small buffer and force the person to shorten the routine or rush.</a:t>
            </a:r>
          </a:p>
        </p:txBody>
      </p:sp>
    </p:spTree>
    <p:extLst>
      <p:ext uri="{BB962C8B-B14F-4D97-AF65-F5344CB8AC3E}">
        <p14:creationId xmlns:p14="http://schemas.microsoft.com/office/powerpoint/2010/main" val="1276053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hree states, one plan">
            <a:extLst xmlns:a="http://schemas.openxmlformats.org/drawingml/2006/main">
              <a:ext uri="{FF2B5EF4-FFF2-40B4-BE49-F238E27FC236}">
                <a16:creationId xmlns:a16="http://schemas.microsoft.com/office/drawing/2014/main" id="{5CD31752-E760-4666-936A-C505EE6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Three states, one plan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AD24E-3483-4969-813A-CAC3903BE4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a55a47d214c0a"/>
          <a:stretch xmlns:a="http://schemas.openxmlformats.org/drawingml/2006/main"/>
        </p:blipFill>
        <p:spPr>
          <a:xfrm xmlns:a="http://schemas.openxmlformats.org/drawingml/2006/main">
            <a:off x="2709436" y="1466850"/>
            <a:ext cx="6735028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98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 working prototype">
            <a:extLst xmlns:a="http://schemas.openxmlformats.org/drawingml/2006/main">
              <a:ext uri="{FF2B5EF4-FFF2-40B4-BE49-F238E27FC236}">
                <a16:creationId xmlns:a16="http://schemas.microsoft.com/office/drawing/2014/main" id="{73A5D51D-A820-443A-9EE2-AB7BE5C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A working prototype</a:t>
            </a:r>
          </a:p>
        </p:txBody>
      </p:sp>
      <p:sp>
        <p:nvSpPr>
          <p:cNvPr id="2" name="10:00 AM commitment">
            <a:extLst xmlns:a="http://schemas.openxmlformats.org/drawingml/2006/main">
              <a:ext uri="{FF2B5EF4-FFF2-40B4-BE49-F238E27FC236}">
                <a16:creationId xmlns:a16="http://schemas.microsoft.com/office/drawing/2014/main" id="{63500AB8-A9E4-4DF4-9D28-1D2A21C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10:00 AM commitment</a:t>
            </a:r>
          </a:p>
        </p:txBody>
      </p:sp>
      <p:sp>
        <p:nvSpPr>
          <p:cNvPr id="3" name="30 min preparation&#10;60 min commute&#10;15 min b">
            <a:extLst xmlns:a="http://schemas.openxmlformats.org/drawingml/2006/main">
              <a:ext uri="{FF2B5EF4-FFF2-40B4-BE49-F238E27FC236}">
                <a16:creationId xmlns:a16="http://schemas.microsoft.com/office/drawing/2014/main" id="{783C1C5F-2604-4727-91E0-10B0727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30 min preparation</a:t>
            </a:r>
          </a:p>
          <a:p xmlns:a="http://schemas.openxmlformats.org/drawingml/2006/main">
            <a: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60 min commute</a:t>
            </a:r>
          </a:p>
          <a:p xmlns:a="http://schemas.openxmlformats.org/drawingml/2006/main">
            <a:pPr>
              <a:def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15 min buffer</a:t>
            </a:r>
          </a:p>
        </p:txBody>
      </p:sp>
      <p:sp>
        <p:nvSpPr>
          <p:cNvPr id="4" name="Stop 8:15 AM&#10;Leave 8:45 AM&#10;Arrive 9:45 AM">
            <a:extLst xmlns:a="http://schemas.openxmlformats.org/drawingml/2006/main">
              <a:ext uri="{FF2B5EF4-FFF2-40B4-BE49-F238E27FC236}">
                <a16:creationId xmlns:a16="http://schemas.microsoft.com/office/drawing/2014/main" id="{9B3290C5-2607-4EF8-A6CB-FAFA4385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Stop 8:15 AM</a:t>
            </a:r>
          </a:p>
          <a:p xmlns:a="http://schemas.openxmlformats.org/drawingml/2006/main">
            <a: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Leave 8:45 AM</a:t>
            </a:r>
          </a:p>
          <a:p xmlns:a="http://schemas.openxmlformats.org/drawingml/2006/main">
            <a:pPr>
              <a:def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Arrive 9:45 AM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B714B-7014-4C73-913E-3C319517F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1abfb51a44393"/>
          <a:srcRect xmlns:a="http://schemas.openxmlformats.org/drawingml/2006/main" l="32000" t="9000" r="32000" b="8000"/>
          <a:stretch xmlns:a="http://schemas.openxmlformats.org/drawingml/2006/main"/>
        </p:blipFill>
        <p:spPr>
          <a:xfrm xmlns:a="http://schemas.openxmlformats.org/drawingml/2006/main">
            <a:off x="7048500" y="1428750"/>
            <a:ext cx="3810000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9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Working backward from a deadline">
            <a:extLst xmlns:a="http://schemas.openxmlformats.org/drawingml/2006/main">
              <a:ext uri="{FF2B5EF4-FFF2-40B4-BE49-F238E27FC236}">
                <a16:creationId xmlns:a16="http://schemas.microsoft.com/office/drawing/2014/main" id="{513B59F0-4F19-46CB-9A45-400543F6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Working backward from a deadline</a:t>
            </a:r>
          </a:p>
        </p:txBody>
      </p:sp>
      <p:sp>
        <p:nvSpPr>
          <p:cNvPr id="2" name="Arrival">
            <a:extLst xmlns:a="http://schemas.openxmlformats.org/drawingml/2006/main">
              <a:ext uri="{FF2B5EF4-FFF2-40B4-BE49-F238E27FC236}">
                <a16:creationId xmlns:a16="http://schemas.microsoft.com/office/drawing/2014/main" id="{3839F8B0-C46E-427D-A683-905256AD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Arrival</a:t>
            </a:r>
          </a:p>
        </p:txBody>
      </p:sp>
      <p:sp>
        <p:nvSpPr>
          <p:cNvPr id="3" name="Commitment minus buffer">
            <a:extLst xmlns:a="http://schemas.openxmlformats.org/drawingml/2006/main">
              <a:ext uri="{FF2B5EF4-FFF2-40B4-BE49-F238E27FC236}">
                <a16:creationId xmlns:a16="http://schemas.microsoft.com/office/drawing/2014/main" id="{F3921281-D138-4DB1-8DC1-15BDC326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Commitment minus buffer</a:t>
            </a:r>
          </a:p>
        </p:txBody>
      </p:sp>
      <p:sp>
        <p:nvSpPr>
          <p:cNvPr id="4" name="Departure">
            <a:extLst xmlns:a="http://schemas.openxmlformats.org/drawingml/2006/main">
              <a:ext uri="{FF2B5EF4-FFF2-40B4-BE49-F238E27FC236}">
                <a16:creationId xmlns:a16="http://schemas.microsoft.com/office/drawing/2014/main" id="{0193F988-A97B-405D-92C6-2B1BB26B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Departure</a:t>
            </a:r>
          </a:p>
        </p:txBody>
      </p:sp>
      <p:sp>
        <p:nvSpPr>
          <p:cNvPr id="5" name="Arrival minus commute">
            <a:extLst xmlns:a="http://schemas.openxmlformats.org/drawingml/2006/main">
              <a:ext uri="{FF2B5EF4-FFF2-40B4-BE49-F238E27FC236}">
                <a16:creationId xmlns:a16="http://schemas.microsoft.com/office/drawing/2014/main" id="{C6EBE02F-5FC3-407A-AFFC-AED0EDE0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Arrival minus commute</a:t>
            </a:r>
          </a:p>
        </p:txBody>
      </p:sp>
      <p:sp>
        <p:nvSpPr>
          <p:cNvPr id="6" name="Workout stop">
            <a:extLst xmlns:a="http://schemas.openxmlformats.org/drawingml/2006/main">
              <a:ext uri="{FF2B5EF4-FFF2-40B4-BE49-F238E27FC236}">
                <a16:creationId xmlns:a16="http://schemas.microsoft.com/office/drawing/2014/main" id="{539D1E78-43A9-4806-93AF-04AD7776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Workout stop</a:t>
            </a:r>
          </a:p>
        </p:txBody>
      </p:sp>
      <p:sp>
        <p:nvSpPr>
          <p:cNvPr id="7" name="Departure minus preparation">
            <a:extLst xmlns:a="http://schemas.openxmlformats.org/drawingml/2006/main">
              <a:ext uri="{FF2B5EF4-FFF2-40B4-BE49-F238E27FC236}">
                <a16:creationId xmlns:a16="http://schemas.microsoft.com/office/drawing/2014/main" id="{7F8FB937-2312-4494-B664-C2E1661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Departure minus preparation</a:t>
            </a:r>
          </a:p>
        </p:txBody>
      </p:sp>
      <p:sp>
        <p:nvSpPr>
          <p:cNvPr id="8" name="Buffer is deducted once. Full timestamps p">
            <a:extLst xmlns:a="http://schemas.openxmlformats.org/drawingml/2006/main">
              <a:ext uri="{FF2B5EF4-FFF2-40B4-BE49-F238E27FC236}">
                <a16:creationId xmlns:a16="http://schemas.microsoft.com/office/drawing/2014/main" id="{0ACB0614-EEEA-4C9C-AEA4-8BC19D66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Buffer is deducted once. Full timestamps preserve dates.</a:t>
            </a:r>
          </a:p>
        </p:txBody>
      </p:sp>
    </p:spTree>
    <p:extLst>
      <p:ext uri="{BB962C8B-B14F-4D97-AF65-F5344CB8AC3E}">
        <p14:creationId xmlns:p14="http://schemas.microsoft.com/office/powerpoint/2010/main" val="113249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Verification and recovery">
            <a:extLst xmlns:a="http://schemas.openxmlformats.org/drawingml/2006/main">
              <a:ext uri="{FF2B5EF4-FFF2-40B4-BE49-F238E27FC236}">
                <a16:creationId xmlns:a16="http://schemas.microsoft.com/office/drawing/2014/main" id="{1F18C411-82F9-4289-84B4-630F06D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Verification and recovery</a:t>
            </a:r>
          </a:p>
        </p:txBody>
      </p:sp>
      <p:sp>
        <p:nvSpPr>
          <p:cNvPr id="2" name="Calculation">
            <a:extLst xmlns:a="http://schemas.openxmlformats.org/drawingml/2006/main">
              <a:ext uri="{FF2B5EF4-FFF2-40B4-BE49-F238E27FC236}">
                <a16:creationId xmlns:a16="http://schemas.microsoft.com/office/drawing/2014/main" id="{7AB52FF9-22D6-44CE-B6DC-A159BB6C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Calculation</a:t>
            </a:r>
          </a:p>
        </p:txBody>
      </p:sp>
      <p:sp>
        <p:nvSpPr>
          <p:cNvPr id="3" name="Eight acceptance tests cover arithmetic an">
            <a:extLst xmlns:a="http://schemas.openxmlformats.org/drawingml/2006/main">
              <a:ext uri="{FF2B5EF4-FFF2-40B4-BE49-F238E27FC236}">
                <a16:creationId xmlns:a16="http://schemas.microsoft.com/office/drawing/2014/main" id="{379B3A64-07D2-460D-A4C5-974CABA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Eight acceptance tests cover arithmetic and edge cases.</a:t>
            </a:r>
          </a:p>
        </p:txBody>
      </p:sp>
      <p:sp>
        <p:nvSpPr>
          <p:cNvPr id="4" name="Recovery">
            <a:extLst xmlns:a="http://schemas.openxmlformats.org/drawingml/2006/main">
              <a:ext uri="{FF2B5EF4-FFF2-40B4-BE49-F238E27FC236}">
                <a16:creationId xmlns:a16="http://schemas.microsoft.com/office/drawing/2014/main" id="{7C8CA075-3440-42DA-AC08-F058871E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Recovery</a:t>
            </a:r>
          </a:p>
        </p:txBody>
      </p:sp>
      <p:sp>
        <p:nvSpPr>
          <p:cNvPr id="5" name="Errors identify fields, preserve input and">
            <a:extLst xmlns:a="http://schemas.openxmlformats.org/drawingml/2006/main">
              <a:ext uri="{FF2B5EF4-FFF2-40B4-BE49-F238E27FC236}">
                <a16:creationId xmlns:a16="http://schemas.microsoft.com/office/drawing/2014/main" id="{25B62A7C-951C-4D97-8E51-1072530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Errors identify fields, preserve input and move focus.</a:t>
            </a:r>
          </a:p>
        </p:txBody>
      </p:sp>
      <p:sp>
        <p:nvSpPr>
          <p:cNvPr id="6" name="Hosted flow">
            <a:extLst xmlns:a="http://schemas.openxmlformats.org/drawingml/2006/main">
              <a:ext uri="{FF2B5EF4-FFF2-40B4-BE49-F238E27FC236}">
                <a16:creationId xmlns:a16="http://schemas.microsoft.com/office/drawing/2014/main" id="{1716309E-D1D4-4634-85AB-2EB4837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Hosted flow</a:t>
            </a:r>
          </a:p>
        </p:txBody>
      </p:sp>
      <p:sp>
        <p:nvSpPr>
          <p:cNvPr id="7" name="Calculate, edit and recalculate work on th">
            <a:extLst xmlns:a="http://schemas.openxmlformats.org/drawingml/2006/main">
              <a:ext uri="{FF2B5EF4-FFF2-40B4-BE49-F238E27FC236}">
                <a16:creationId xmlns:a16="http://schemas.microsoft.com/office/drawing/2014/main" id="{521D39AE-55E6-4794-906A-728B3C6A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Calculate, edit and recalculate work on the deployed app.</a:t>
            </a:r>
          </a:p>
        </p:txBody>
      </p:sp>
      <p:sp>
        <p:nvSpPr>
          <p:cNvPr id="8" name="Peer usability feedback is still pending.">
            <a:extLst xmlns:a="http://schemas.openxmlformats.org/drawingml/2006/main">
              <a:ext uri="{FF2B5EF4-FFF2-40B4-BE49-F238E27FC236}">
                <a16:creationId xmlns:a16="http://schemas.microsoft.com/office/drawing/2014/main" id="{D11847F0-9A62-462C-A7D1-F9E5F09B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Peer usability feedback is still pending.</a:t>
            </a:r>
          </a:p>
        </p:txBody>
      </p:sp>
    </p:spTree>
    <p:extLst>
      <p:ext uri="{BB962C8B-B14F-4D97-AF65-F5344CB8AC3E}">
        <p14:creationId xmlns:p14="http://schemas.microsoft.com/office/powerpoint/2010/main" val="53415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imits and the next evaluation">
            <a:extLst xmlns:a="http://schemas.openxmlformats.org/drawingml/2006/main">
              <a:ext uri="{FF2B5EF4-FFF2-40B4-BE49-F238E27FC236}">
                <a16:creationId xmlns:a16="http://schemas.microsoft.com/office/drawing/2014/main" id="{32BD1D67-8581-4F15-BA5F-8C25448E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Limits and the next evaluation</a:t>
            </a:r>
          </a:p>
        </p:txBody>
      </p:sp>
      <p:sp>
        <p:nvSpPr>
          <p:cNvPr id="2" name="One commitment at a time. Times depend on ">
            <a:extLst xmlns:a="http://schemas.openxmlformats.org/drawingml/2006/main">
              <a:ext uri="{FF2B5EF4-FFF2-40B4-BE49-F238E27FC236}">
                <a16:creationId xmlns:a16="http://schemas.microsoft.com/office/drawing/2014/main" id="{37DE5B01-82FB-4368-89DD-1C06859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B8B8C3"/>
                </a:solidFill>
                <a:latin typeface="DejaVu Sans"/>
                <a:ea typeface="DejaVu Sans"/>
                <a:cs typeface="DejaVu Sans"/>
              </a:rPr>
              <a:t>One commitment at a time. Times depend on the entered estimates. Reload starts a new plan.</a:t>
            </a:r>
          </a:p>
        </p:txBody>
      </p:sp>
      <p:sp>
        <p:nvSpPr>
          <p:cNvPr id="3" name="Next evaluation">
            <a:extLst xmlns:a="http://schemas.openxmlformats.org/drawingml/2006/main">
              <a:ext uri="{FF2B5EF4-FFF2-40B4-BE49-F238E27FC236}">
                <a16:creationId xmlns:a16="http://schemas.microsoft.com/office/drawing/2014/main" id="{B21B752C-87E1-4EF8-B0A9-66724365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Next evaluation</a:t>
            </a:r>
          </a:p>
        </p:txBody>
      </p:sp>
      <p:sp>
        <p:nvSpPr>
          <p:cNvPr id="4" name="Can another person explain Stop workout ve">
            <a:extLst xmlns:a="http://schemas.openxmlformats.org/drawingml/2006/main">
              <a:ext uri="{FF2B5EF4-FFF2-40B4-BE49-F238E27FC236}">
                <a16:creationId xmlns:a16="http://schemas.microsoft.com/office/drawing/2014/main" id="{98B08246-49C2-4F20-8675-96E0ECEF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7953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5F7"/>
                </a:solidFill>
                <a:latin typeface="DejaVu Sans"/>
                <a:ea typeface="DejaVu Sans"/>
                <a:cs typeface="DejaVu Sans"/>
              </a:rPr>
              <a:t>Can another person explain Stop workout versus Leave by and edit a plan without help?</a:t>
            </a:r>
          </a:p>
        </p:txBody>
      </p:sp>
      <p:sp>
        <p:nvSpPr>
          <p:cNvPr id="5" name="leaveby.rayhanson.tech">
            <a:extLst xmlns:a="http://schemas.openxmlformats.org/drawingml/2006/main">
              <a:ext uri="{FF2B5EF4-FFF2-40B4-BE49-F238E27FC236}">
                <a16:creationId xmlns:a16="http://schemas.microsoft.com/office/drawing/2014/main" id="{27BBB966-AEBF-47E1-BD72-B80228E1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3F5E"/>
                </a:solidFill>
                <a:latin typeface="DejaVu Sans"/>
                <a:ea typeface="DejaVu Sans"/>
                <a:cs typeface="DejaVu Sans"/>
              </a:rPr>
              <a:t>leaveby.rayhanson.tech</a:t>
            </a:r>
          </a:p>
        </p:txBody>
      </p:sp>
    </p:spTree>
    <p:extLst>
      <p:ext uri="{BB962C8B-B14F-4D97-AF65-F5344CB8AC3E}">
        <p14:creationId xmlns:p14="http://schemas.microsoft.com/office/powerpoint/2010/main" val="1849855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2026-10-20T20:13:34.6150000Z</dcterms:created>
  <dcterms:modified xsi:type="dcterms:W3CDTF">2026-10-20T20:13:34.6150000Z</dcterms:modified>
</coreProperties>
</file>